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Poppins Light"/>
      <p:regular r:id="rId16"/>
    </p:embeddedFont>
    <p:embeddedFont>
      <p:font typeface="Poppins Light"/>
      <p:regular r:id="rId17"/>
    </p:embeddedFont>
    <p:embeddedFont>
      <p:font typeface="Poppins Light"/>
      <p:regular r:id="rId18"/>
    </p:embeddedFont>
    <p:embeddedFont>
      <p:font typeface="Poppins Light"/>
      <p:regular r:id="rId19"/>
    </p:embeddedFont>
    <p:embeddedFont>
      <p:font typeface="Roboto Light"/>
      <p:regular r:id="rId20"/>
    </p:embeddedFont>
    <p:embeddedFont>
      <p:font typeface="Roboto Light"/>
      <p:regular r:id="rId21"/>
    </p:embeddedFont>
    <p:embeddedFont>
      <p:font typeface="Roboto Light"/>
      <p:regular r:id="rId22"/>
    </p:embeddedFont>
    <p:embeddedFont>
      <p:font typeface="Roboto Light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45976"/>
            <a:ext cx="57321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Trabalho IPV4 - CIDR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09491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Um programa para cálculo e alocação automática de sub-redes com máscara variável, a partir de um bloco IP principal e das demandas de hosts de diferentes departamentos.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07946"/>
            <a:ext cx="61999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Objetivo do Programa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175688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 programa automatiza o cálculo de sub-redes com VLSM, recebendo um bloco IP e demandas de hosts, e retorna as sub-redes otimizadas para cada departamento.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3100745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80190" y="3455789"/>
            <a:ext cx="3664744" cy="3048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7" name="Text 4"/>
          <p:cNvSpPr/>
          <p:nvPr/>
        </p:nvSpPr>
        <p:spPr>
          <a:xfrm>
            <a:off x="6280190" y="36300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Entrada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80190" y="4120515"/>
            <a:ext cx="36647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Bloco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172.20.10.0/23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 demandas de hosts por departamento.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171748" y="3100745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0171748" y="3455789"/>
            <a:ext cx="3664863" cy="3048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1" name="Text 8"/>
          <p:cNvSpPr/>
          <p:nvPr/>
        </p:nvSpPr>
        <p:spPr>
          <a:xfrm>
            <a:off x="10171748" y="36300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Processamento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171748" y="4120515"/>
            <a:ext cx="36648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Conversão binária, cálculo de prefixo, máscara, rede, broadcast e validação de limites.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280190" y="5606058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6280190" y="5961102"/>
            <a:ext cx="7556421" cy="3048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5" name="Text 12"/>
          <p:cNvSpPr/>
          <p:nvPr/>
        </p:nvSpPr>
        <p:spPr>
          <a:xfrm>
            <a:off x="6280190" y="61354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Saída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280190" y="662582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Network Address, Subnet Mask, CIDR, Broadcast e faixa de IPs utilizáveis por departamento.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627817"/>
            <a:ext cx="6616065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Conceitos Fundamentais</a:t>
            </a:r>
            <a:endParaRPr lang="en-US" sz="4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260" y="2227659"/>
            <a:ext cx="8360688" cy="4737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1204" y="1790581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Subnetting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9631204" y="2322195"/>
            <a:ext cx="4262438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Divisão de uma rede maior em sub-redes menores, melhorando segurança, desempenho e organização.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9631204" y="3510201"/>
            <a:ext cx="4262438" cy="664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CIDR — Classless Inter-Domain Routing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9631204" y="4374118"/>
            <a:ext cx="426243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Notação </a:t>
            </a:r>
            <a:pPr algn="l" indent="0" marL="0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/prefixo</a:t>
            </a:r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que indica quantos bits identificam a rede. Ex.: </a:t>
            </a:r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/24</a:t>
            </a:r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= 254 hosts.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631204" y="5240179"/>
            <a:ext cx="4262438" cy="664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VLSM — Variable Length Subnet Mask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9631204" y="6104096"/>
            <a:ext cx="4262438" cy="131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Permite máscaras de tamanhos diferentes dentro do mesmo bloco, alocando apenas o necessário para cada demanda e reduzindo desperdício de endereços.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646748"/>
            <a:ext cx="10545961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Conversão de IP e Cálculo de Máscara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69025" y="1865352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IP → Inteiro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769025" y="2421374"/>
            <a:ext cx="6278166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Converte o IP em número inteiro para operações binárias.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69025" y="3006923"/>
            <a:ext cx="6278166" cy="1477685"/>
          </a:xfrm>
          <a:prstGeom prst="roundRect">
            <a:avLst>
              <a:gd name="adj" fmla="val 6246"/>
            </a:avLst>
          </a:prstGeom>
          <a:solidFill>
            <a:srgbClr val="121212"/>
          </a:solidFill>
          <a:ln/>
        </p:spPr>
      </p:sp>
      <p:sp>
        <p:nvSpPr>
          <p:cNvPr id="6" name="Shape 4"/>
          <p:cNvSpPr/>
          <p:nvPr/>
        </p:nvSpPr>
        <p:spPr>
          <a:xfrm>
            <a:off x="758071" y="3006923"/>
            <a:ext cx="6300073" cy="1477685"/>
          </a:xfrm>
          <a:prstGeom prst="roundRect">
            <a:avLst>
              <a:gd name="adj" fmla="val 2231"/>
            </a:avLst>
          </a:prstGeom>
          <a:solidFill>
            <a:srgbClr val="121212"/>
          </a:solidFill>
          <a:ln/>
        </p:spPr>
      </p:sp>
      <p:sp>
        <p:nvSpPr>
          <p:cNvPr id="7" name="Text 5"/>
          <p:cNvSpPr/>
          <p:nvPr/>
        </p:nvSpPr>
        <p:spPr>
          <a:xfrm>
            <a:off x="1032629" y="3226594"/>
            <a:ext cx="5750957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def ip_to_int(ip):</a:t>
            </a:r>
            <a:endParaRPr lang="en-US" sz="17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parts = map(int, ip.split('.'))</a:t>
            </a:r>
            <a:endParaRPr lang="en-US" sz="17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return reduce(lambda a, b: (a &lt;&lt; 8) + b, parts)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69025" y="4724043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Inteiro → IP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769025" y="5280065"/>
            <a:ext cx="6278166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Reverte a conversão para exibição em decimal pontuado.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69025" y="5865614"/>
            <a:ext cx="6278166" cy="1477685"/>
          </a:xfrm>
          <a:prstGeom prst="roundRect">
            <a:avLst>
              <a:gd name="adj" fmla="val 6246"/>
            </a:avLst>
          </a:prstGeom>
          <a:solidFill>
            <a:srgbClr val="121212"/>
          </a:solidFill>
          <a:ln/>
        </p:spPr>
      </p:sp>
      <p:sp>
        <p:nvSpPr>
          <p:cNvPr id="11" name="Shape 9"/>
          <p:cNvSpPr/>
          <p:nvPr/>
        </p:nvSpPr>
        <p:spPr>
          <a:xfrm>
            <a:off x="758071" y="5865614"/>
            <a:ext cx="6300073" cy="1477685"/>
          </a:xfrm>
          <a:prstGeom prst="roundRect">
            <a:avLst>
              <a:gd name="adj" fmla="val 2231"/>
            </a:avLst>
          </a:prstGeom>
          <a:solidFill>
            <a:srgbClr val="121212"/>
          </a:solidFill>
          <a:ln/>
        </p:spPr>
      </p:sp>
      <p:sp>
        <p:nvSpPr>
          <p:cNvPr id="12" name="Text 10"/>
          <p:cNvSpPr/>
          <p:nvPr/>
        </p:nvSpPr>
        <p:spPr>
          <a:xfrm>
            <a:off x="1032629" y="6085284"/>
            <a:ext cx="5750957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def int_to_ip(n):</a:t>
            </a:r>
            <a:endParaRPr lang="en-US" sz="17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return '.'.join(str((n &gt;&gt; (8 * i)) &amp; 255)</a:t>
            </a:r>
            <a:endParaRPr lang="en-US" sz="17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        for i in reversed(range(4)))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590830" y="1865352"/>
            <a:ext cx="2757130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Cálculo da Máscara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7590830" y="2421374"/>
            <a:ext cx="6278166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Gera a máscara a partir do prefixo CIDR.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590830" y="3006923"/>
            <a:ext cx="6278166" cy="1477685"/>
          </a:xfrm>
          <a:prstGeom prst="roundRect">
            <a:avLst>
              <a:gd name="adj" fmla="val 6246"/>
            </a:avLst>
          </a:prstGeom>
          <a:solidFill>
            <a:srgbClr val="121212"/>
          </a:solidFill>
          <a:ln/>
        </p:spPr>
      </p:sp>
      <p:sp>
        <p:nvSpPr>
          <p:cNvPr id="16" name="Shape 14"/>
          <p:cNvSpPr/>
          <p:nvPr/>
        </p:nvSpPr>
        <p:spPr>
          <a:xfrm>
            <a:off x="7579876" y="3006923"/>
            <a:ext cx="6300073" cy="1477685"/>
          </a:xfrm>
          <a:prstGeom prst="roundRect">
            <a:avLst>
              <a:gd name="adj" fmla="val 2231"/>
            </a:avLst>
          </a:prstGeom>
          <a:solidFill>
            <a:srgbClr val="121212"/>
          </a:solidFill>
          <a:ln/>
        </p:spPr>
      </p:sp>
      <p:sp>
        <p:nvSpPr>
          <p:cNvPr id="17" name="Text 15"/>
          <p:cNvSpPr/>
          <p:nvPr/>
        </p:nvSpPr>
        <p:spPr>
          <a:xfrm>
            <a:off x="7854434" y="3226594"/>
            <a:ext cx="5750957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def calc_mascara(prefixo):</a:t>
            </a:r>
            <a:endParaRPr lang="en-US" sz="17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mask_int = (0xFFFFFFFF &lt;&lt; (32 - prefixo)) &amp; 0xFFFFFFFF</a:t>
            </a:r>
            <a:endParaRPr lang="en-US" sz="17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return int_to_ip(mask_int)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590830" y="4724043"/>
            <a:ext cx="6278166" cy="930354"/>
          </a:xfrm>
          <a:prstGeom prst="roundRect">
            <a:avLst>
              <a:gd name="adj" fmla="val 9920"/>
            </a:avLst>
          </a:prstGeom>
          <a:solidFill>
            <a:srgbClr val="022349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0500" y="5050155"/>
            <a:ext cx="274558" cy="21967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304728" y="4991695"/>
            <a:ext cx="5344597" cy="361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Prefixo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/25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→ máscara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255.255.255.128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4628" y="592336"/>
            <a:ext cx="6970157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Cálculo de Hosts, Bits e Prefixo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628" y="1490424"/>
            <a:ext cx="12961025" cy="56895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033324" y="5591709"/>
            <a:ext cx="2271939" cy="35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Calcular hosts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033324" y="6042664"/>
            <a:ext cx="2271939" cy="513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2^h - 2 ≥ demanda; ex: 2^7 - 2 = 126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412230" y="4896552"/>
            <a:ext cx="2271939" cy="702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Obter informações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412230" y="5698596"/>
            <a:ext cx="2271939" cy="770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Endereço de rede, máscara, broadcast e faixa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41501" y="2087056"/>
            <a:ext cx="2271940" cy="702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Determinar prefixo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241501" y="2889100"/>
            <a:ext cx="2271940" cy="513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prefixo = 32 - h; ex: 32 - 7 = /25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34628" y="7354848"/>
            <a:ext cx="12961025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 número de bits de host é determinado pela fórmula </a:t>
            </a:r>
            <a:pPr algn="l" indent="0" marL="0">
              <a:lnSpc>
                <a:spcPts val="2150"/>
              </a:lnSpc>
              <a:buNone/>
            </a:pPr>
            <a:r>
              <a:rPr lang="en-US" sz="14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2^h - 2 \geq \text{demanda}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 Para 120 hosts: </a:t>
            </a:r>
            <a:pPr algn="l" indent="0" marL="0">
              <a:lnSpc>
                <a:spcPts val="2150"/>
              </a:lnSpc>
              <a:buNone/>
            </a:pPr>
            <a:r>
              <a:rPr lang="en-US" sz="14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 = 7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→ prefixo 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/25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com 126 endereços utilizáveis.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54831"/>
            <a:ext cx="7879675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Lógica de Alocação das Sub-redes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43205" y="3490555"/>
            <a:ext cx="4620339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Por que ordenar do maior para o menor?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543205" y="3916918"/>
            <a:ext cx="6015395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Redes maiores são alocadas primeiro, evitando fragmentação e garantindo encaixe contíguo dentro do bloco principal.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7543205" y="4580453"/>
            <a:ext cx="2284452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Validação de limites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7543205" y="5006816"/>
            <a:ext cx="6015395" cy="527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cada alocação, verifica-se se 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proximo_endereco &lt;= fim_bloco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 Se ultrapassar, o programa alerta overflow.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0318"/>
            <a:ext cx="848534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Trechos do Código em Python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16073"/>
            <a:ext cx="28507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Alocação com VLSM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2525554"/>
            <a:ext cx="6244709" cy="4808458"/>
          </a:xfrm>
          <a:prstGeom prst="roundRect">
            <a:avLst>
              <a:gd name="adj" fmla="val 1981"/>
            </a:avLst>
          </a:prstGeom>
          <a:solidFill>
            <a:srgbClr val="121212"/>
          </a:solidFill>
          <a:ln/>
        </p:spPr>
      </p:sp>
      <p:sp>
        <p:nvSpPr>
          <p:cNvPr id="5" name="Shape 3"/>
          <p:cNvSpPr/>
          <p:nvPr/>
        </p:nvSpPr>
        <p:spPr>
          <a:xfrm>
            <a:off x="782479" y="2525554"/>
            <a:ext cx="6267331" cy="4808458"/>
          </a:xfrm>
          <a:prstGeom prst="roundRect">
            <a:avLst>
              <a:gd name="adj" fmla="val 708"/>
            </a:avLst>
          </a:prstGeom>
          <a:solidFill>
            <a:srgbClr val="121212"/>
          </a:solidFill>
          <a:ln/>
        </p:spPr>
      </p:sp>
      <p:sp>
        <p:nvSpPr>
          <p:cNvPr id="6" name="Text 4"/>
          <p:cNvSpPr/>
          <p:nvPr/>
        </p:nvSpPr>
        <p:spPr>
          <a:xfrm>
            <a:off x="1065967" y="2752368"/>
            <a:ext cx="5700355" cy="435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for dept, hosts in demandas: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h = ceil(log2(hosts + 2))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prefixo = 32 - h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tam = 1 &lt;&lt; h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rede = int_to_ip(end_atual)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broadcast_int = end_atual + tam - 1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if broadcast_int &gt; fim_bloco: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raise ValueError("Overflow")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resultados.append({...})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end_atual += tam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1916073"/>
            <a:ext cx="35336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Fluxo da função principal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2497217"/>
            <a:ext cx="6244709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Converte o bloco base para inteiro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Ordena demandas do maior para o menor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Calcula prefixo e tamanho de cada sub-rede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Verifica overflow antes de cada alocação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Avança o ponteiro e armazena os resultados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09700"/>
            <a:ext cx="851154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Resultados por Departamento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7210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Alocação a partir do bloco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172.20.10.0/23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(510 hosts utilizáveis), sem desperdício.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190161"/>
            <a:ext cx="13042821" cy="3629739"/>
          </a:xfrm>
          <a:prstGeom prst="roundRect">
            <a:avLst>
              <a:gd name="adj" fmla="val 262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3197781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462" y="3341489"/>
            <a:ext cx="16268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Departamento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3116580" y="3341489"/>
            <a:ext cx="18836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Network Address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461516" y="3341489"/>
            <a:ext cx="11020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CIDR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024807" y="3341489"/>
            <a:ext cx="18836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Máscara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9369743" y="3341489"/>
            <a:ext cx="18836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Broadcast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1714678" y="3341489"/>
            <a:ext cx="188749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IPs Utilizáveis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3848100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8462" y="3991808"/>
            <a:ext cx="16268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Engenharia (120)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3116580" y="3991808"/>
            <a:ext cx="18836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172.20.10.0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5461516" y="3991808"/>
            <a:ext cx="11020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/25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024807" y="3991808"/>
            <a:ext cx="18836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255.255.255.128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9369743" y="3991808"/>
            <a:ext cx="18836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172.20.10.127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1714678" y="3991808"/>
            <a:ext cx="188749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.1 – .126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801410" y="4861322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28462" y="5005030"/>
            <a:ext cx="16268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Financeiro (50)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3116580" y="5005030"/>
            <a:ext cx="18836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172.20.10.128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5461516" y="5005030"/>
            <a:ext cx="11020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/26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024807" y="5005030"/>
            <a:ext cx="18836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255.255.255.192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9369743" y="5005030"/>
            <a:ext cx="18836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172.20.10.191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11714678" y="5005030"/>
            <a:ext cx="188749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.129 – .190</a:t>
            </a:r>
            <a:endParaRPr lang="en-US" sz="1750" dirty="0"/>
          </a:p>
        </p:txBody>
      </p:sp>
      <p:sp>
        <p:nvSpPr>
          <p:cNvPr id="26" name="Shape 24"/>
          <p:cNvSpPr/>
          <p:nvPr/>
        </p:nvSpPr>
        <p:spPr>
          <a:xfrm>
            <a:off x="801410" y="5511641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028462" y="5655350"/>
            <a:ext cx="16268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Marketing (28)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3116580" y="5655350"/>
            <a:ext cx="18836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172.20.10.192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5461516" y="5655350"/>
            <a:ext cx="11020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/27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7024807" y="5655350"/>
            <a:ext cx="18836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255.255.255.224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9369743" y="5655350"/>
            <a:ext cx="18836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172.20.10.223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11714678" y="5655350"/>
            <a:ext cx="188749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.193 – .222</a:t>
            </a:r>
            <a:endParaRPr lang="en-US" sz="1750" dirty="0"/>
          </a:p>
        </p:txBody>
      </p:sp>
      <p:sp>
        <p:nvSpPr>
          <p:cNvPr id="33" name="Shape 31"/>
          <p:cNvSpPr/>
          <p:nvPr/>
        </p:nvSpPr>
        <p:spPr>
          <a:xfrm>
            <a:off x="801410" y="6161961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028462" y="6305669"/>
            <a:ext cx="16268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Visitantes (10)</a:t>
            </a:r>
            <a:endParaRPr lang="en-US" sz="1750" dirty="0"/>
          </a:p>
        </p:txBody>
      </p:sp>
      <p:sp>
        <p:nvSpPr>
          <p:cNvPr id="35" name="Text 33"/>
          <p:cNvSpPr/>
          <p:nvPr/>
        </p:nvSpPr>
        <p:spPr>
          <a:xfrm>
            <a:off x="3116580" y="6305669"/>
            <a:ext cx="18836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172.20.10.224</a:t>
            </a:r>
            <a:endParaRPr lang="en-US" sz="1750" dirty="0"/>
          </a:p>
        </p:txBody>
      </p:sp>
      <p:sp>
        <p:nvSpPr>
          <p:cNvPr id="36" name="Text 34"/>
          <p:cNvSpPr/>
          <p:nvPr/>
        </p:nvSpPr>
        <p:spPr>
          <a:xfrm>
            <a:off x="5461516" y="6305669"/>
            <a:ext cx="11020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/28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7024807" y="6305669"/>
            <a:ext cx="18836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255.255.255.240</a:t>
            </a:r>
            <a:endParaRPr lang="en-US" sz="1750" dirty="0"/>
          </a:p>
        </p:txBody>
      </p:sp>
      <p:sp>
        <p:nvSpPr>
          <p:cNvPr id="38" name="Text 36"/>
          <p:cNvSpPr/>
          <p:nvPr/>
        </p:nvSpPr>
        <p:spPr>
          <a:xfrm>
            <a:off x="9369743" y="6305669"/>
            <a:ext cx="18836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172.20.10.239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11714678" y="6305669"/>
            <a:ext cx="188749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.225 – .238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5699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Conclusão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1805940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 programa demonstra como Python pode automatizar o dimensionamento de sub-redes com VLSM, eliminando cálculos manuais e garantindo alocação eficiente.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3149798"/>
            <a:ext cx="3664744" cy="2410897"/>
          </a:xfrm>
          <a:prstGeom prst="roundRect">
            <a:avLst>
              <a:gd name="adj" fmla="val 3952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28224" y="33842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Automatização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874651"/>
            <a:ext cx="319587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Substitui cálculos manuais por um processo programático confiável e reutilizável.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348" y="3149798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19782" y="33842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Eficiência com VLSM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919782" y="3874651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Cada departamento recebe apenas os endereços necessários, minimizando desperdício.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93790" y="5787509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8224" y="6021943"/>
            <a:ext cx="31734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Validação Automática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28224" y="6512362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 programa detecta overflow e garante que todas as sub-redes cabem no bloco principal.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2026-04-30T19:59:09Z</dcterms:created>
  <dcterms:modified xsi:type="dcterms:W3CDTF">2026-04-30T19:59:09Z</dcterms:modified>
</cp:coreProperties>
</file>